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3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32C"/>
                </a:solidFill>
                <a:latin typeface="Arial"/>
              </a:rPr>
              <a:t>Risk points by signal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contributed</c:v>
                </c:pt>
              </c:strCache>
            </c:strRef>
          </c:tx>
          <c:spPr>
            <a:solidFill>
              <a:srgbClr val="3FA8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Shared device</c:v>
                  </c:pt>
                  <c:pt idx="1">
                    <c:v>Bonus claims</c:v>
                  </c:pt>
                  <c:pt idx="2">
                    <c:v>Deposit pattern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24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81F"/>
          </a:solidFill>
          <a:ln/>
        </p:spPr>
      </p:sp>
      <p:pic>
        <p:nvPicPr>
          <p:cNvPr id="3" name="Image 0" descr="/home/claude/assets/icons/shield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965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BETGUARD AI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880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 that flags multi-accounting, bonus abuse, and deposit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before they cost you.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3FA88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Betway  ·  Fraud &amp; Risk Operations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Oganne Baitsile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abuse is quiet, until it isn't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account for a large share of avoidable operator losses — and each one is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catch by eye, one account at a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ssets/icons/users-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Multi-accounting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 runs several accounts from one device to double up on offers meant for one customer.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1488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ssets/icons/gift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abuse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and free-bet terms get systematically exploited by accounts built purely to farm bonus value.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1488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ssets/icons/trending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633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anomalies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Sudden, out-of-pattern deposit behavior is often the earliest signal of a compromised or fraudulent account.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BetGuard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BetGuard AI turns three signals into one decision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risk engine that scores an account the moment those signals change, so review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fill with the accounts that actually warrant attention.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1B23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12181F"/>
          </a:solidFill>
          <a:ln/>
        </p:spPr>
      </p:sp>
      <p:pic>
        <p:nvPicPr>
          <p:cNvPr id="6" name="Image 0" descr="/home/claude/assets/icons/checklist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97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Signals 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Shared-device accounts, bonus claims, and deposit pattern are read for the account.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520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9120" y="22860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1B232C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560320"/>
            <a:ext cx="640080" cy="640080"/>
          </a:xfrm>
          <a:prstGeom prst="ellipse">
            <a:avLst/>
          </a:prstGeom>
          <a:solidFill>
            <a:srgbClr val="12181F"/>
          </a:solidFill>
          <a:ln/>
        </p:spPr>
      </p:sp>
      <p:pic>
        <p:nvPicPr>
          <p:cNvPr id="12" name="Image 1" descr="/home/claude/assets/icons/cpu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Weighted scoring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contributes to a single 0–100 score, tuned by weight rather than a hard rule.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3520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138160" y="22860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1B232C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2560320"/>
            <a:ext cx="640080" cy="640080"/>
          </a:xfrm>
          <a:prstGeom prst="ellipse">
            <a:avLst/>
          </a:prstGeom>
          <a:solidFill>
            <a:srgbClr val="12181F"/>
          </a:solidFill>
          <a:ln/>
        </p:spPr>
      </p:sp>
      <p:pic>
        <p:nvPicPr>
          <p:cNvPr id="18" name="Image 2" descr="/home/claude/assets/icons/gauge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97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Risk tier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lands in Low, Moderate, or High — each mapped to a clear recommended action.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the working MVP demoed live — this is not a concept sketch.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BetGuard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worked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account: 2 accounts sharing a device, 3 bonus claims, an unusual deposit pattern.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874520"/>
            <a:ext cx="4251960" cy="3566160"/>
          </a:xfrm>
          <a:prstGeom prst="roundRect">
            <a:avLst>
              <a:gd name="adj" fmla="val 2051"/>
            </a:avLst>
          </a:prstGeom>
          <a:solidFill>
            <a:srgbClr val="12181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89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SCORE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6118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C455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3611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46227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manual review before the next bonus is applied; do not auto-approve.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BetGuard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reviewer sees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 — sliders on the left, live score and action on the right.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4572000"/>
          </a:xfrm>
          <a:prstGeom prst="roundRect">
            <a:avLst>
              <a:gd name="adj" fmla="val 1200"/>
            </a:avLst>
          </a:prstGeom>
          <a:solidFill>
            <a:srgbClr val="1B232C"/>
          </a:solidFill>
          <a:ln w="12700">
            <a:solidFill>
              <a:srgbClr val="2A3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20240"/>
            <a:ext cx="128016" cy="128016"/>
          </a:xfrm>
          <a:prstGeom prst="ellipse">
            <a:avLst/>
          </a:prstGeom>
          <a:solidFill>
            <a:srgbClr val="C4554D"/>
          </a:solidFill>
          <a:ln/>
        </p:spPr>
      </p:sp>
      <p:sp>
        <p:nvSpPr>
          <p:cNvPr id="6" name="Shape 4"/>
          <p:cNvSpPr/>
          <p:nvPr/>
        </p:nvSpPr>
        <p:spPr>
          <a:xfrm>
            <a:off x="1353312" y="192024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1920240"/>
            <a:ext cx="128016" cy="128016"/>
          </a:xfrm>
          <a:prstGeom prst="ellipse">
            <a:avLst/>
          </a:prstGeom>
          <a:solidFill>
            <a:srgbClr val="3FA8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 accounts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724912"/>
            <a:ext cx="4206240" cy="54864"/>
          </a:xfrm>
          <a:prstGeom prst="roundRect">
            <a:avLst>
              <a:gd name="adj" fmla="val 50000"/>
            </a:avLst>
          </a:prstGeom>
          <a:solidFill>
            <a:srgbClr val="2A32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724912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3FA88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9544" y="265176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claims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3776472"/>
            <a:ext cx="4206240" cy="54864"/>
          </a:xfrm>
          <a:prstGeom prst="roundRect">
            <a:avLst>
              <a:gd name="adj" fmla="val 50000"/>
            </a:avLst>
          </a:prstGeom>
          <a:solidFill>
            <a:srgbClr val="2A32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3776472"/>
            <a:ext cx="1682496" cy="54864"/>
          </a:xfrm>
          <a:prstGeom prst="roundRect">
            <a:avLst>
              <a:gd name="adj" fmla="val 50000"/>
            </a:avLst>
          </a:prstGeom>
          <a:solidFill>
            <a:srgbClr val="3FA88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88920" y="370332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8872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pattern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8720" y="4828032"/>
            <a:ext cx="4206240" cy="54864"/>
          </a:xfrm>
          <a:prstGeom prst="roundRect">
            <a:avLst>
              <a:gd name="adj" fmla="val 50000"/>
            </a:avLst>
          </a:prstGeom>
          <a:solidFill>
            <a:srgbClr val="2A323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8720" y="4828032"/>
            <a:ext cx="2776118" cy="54864"/>
          </a:xfrm>
          <a:prstGeom prst="roundRect">
            <a:avLst>
              <a:gd name="adj" fmla="val 50000"/>
            </a:avLst>
          </a:prstGeom>
          <a:solidFill>
            <a:srgbClr val="3FA88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82542" y="475488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0" y="2240280"/>
            <a:ext cx="0" cy="3657600"/>
          </a:xfrm>
          <a:prstGeom prst="line">
            <a:avLst/>
          </a:prstGeom>
          <a:noFill/>
          <a:ln w="12700">
            <a:solidFill>
              <a:srgbClr val="2A3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651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5600" dirty="0"/>
          </a:p>
        </p:txBody>
      </p:sp>
      <p:sp>
        <p:nvSpPr>
          <p:cNvPr id="26" name="Shape 24"/>
          <p:cNvSpPr/>
          <p:nvPr/>
        </p:nvSpPr>
        <p:spPr>
          <a:xfrm>
            <a:off x="6400800" y="36576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377440"/>
            <a:ext cx="3931920" cy="54864"/>
          </a:xfrm>
          <a:prstGeom prst="roundRect">
            <a:avLst>
              <a:gd name="adj" fmla="val 50000"/>
            </a:avLst>
          </a:prstGeom>
          <a:solidFill>
            <a:srgbClr val="2A323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42976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for two more claims or another shared device to move this into High.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BetGuard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MVP to production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demoed today; the next stages plug in real data and expand what the engine watches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0" cy="822960"/>
          </a:xfrm>
          <a:prstGeom prst="ellipse">
            <a:avLst/>
          </a:prstGeom>
          <a:solidFill>
            <a:srgbClr val="3FA88F"/>
          </a:solidFill>
          <a:ln w="19050">
            <a:solidFill>
              <a:srgbClr val="3FA88F"/>
            </a:solidFill>
            <a:prstDash val="solid"/>
          </a:ln>
        </p:spPr>
      </p:sp>
      <p:pic>
        <p:nvPicPr>
          <p:cNvPr id="6" name="Image 0" descr="/home/claude/assets/icons/fl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built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Three-signal engine and live scoring demo, working today.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2468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55848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6F7"/>
          </a:solidFill>
          <a:ln/>
        </p:spPr>
      </p:sp>
      <p:sp>
        <p:nvSpPr>
          <p:cNvPr id="12" name="Shape 9"/>
          <p:cNvSpPr/>
          <p:nvPr/>
        </p:nvSpPr>
        <p:spPr>
          <a:xfrm>
            <a:off x="4178808" y="20116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9DD"/>
            </a:solidFill>
            <a:prstDash val="solid"/>
          </a:ln>
        </p:spPr>
      </p:sp>
      <p:pic>
        <p:nvPicPr>
          <p:cNvPr id="13" name="Image 1" descr="/home/claude/assets/icons/char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5584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38728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538728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sample of real (anonymized) account data to tune weights.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824728" y="2468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071616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6F7"/>
          </a:solidFill>
          <a:ln/>
        </p:spPr>
      </p:sp>
      <p:sp>
        <p:nvSpPr>
          <p:cNvPr id="19" name="Shape 15"/>
          <p:cNvSpPr/>
          <p:nvPr/>
        </p:nvSpPr>
        <p:spPr>
          <a:xfrm>
            <a:off x="6894576" y="20116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9DD"/>
            </a:solidFill>
            <a:prstDash val="solid"/>
          </a:ln>
        </p:spPr>
      </p:sp>
      <p:pic>
        <p:nvPicPr>
          <p:cNvPr id="20" name="Image 2" descr="/home/claude/assets/icons/cpu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2194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71616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54496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upgrade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254496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fixed weights to a trained model as pilot data comes in.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540496" y="2468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787384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6F7"/>
          </a:solidFill>
          <a:ln/>
        </p:spPr>
      </p:sp>
      <p:sp>
        <p:nvSpPr>
          <p:cNvPr id="26" name="Shape 21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9DD"/>
            </a:solidFill>
            <a:prstDash val="solid"/>
          </a:ln>
        </p:spPr>
      </p:sp>
      <p:pic>
        <p:nvPicPr>
          <p:cNvPr id="27" name="Image 3" descr="/home/claude/assets/icons/rocket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4" y="21945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87384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970264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970264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the live review queue and bonus-approval workflow.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BetGuard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cons/target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594360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600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asking for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3774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pilot conversation with your fraud and risk team — enough to test BetGuard AI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sample of real, anonymized account patterns and see where the weights need tuning.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3FA88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43000" y="34564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with the fraud/risk team to compare BetGuard AI's flags against known cases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4123944"/>
            <a:ext cx="109728" cy="109728"/>
          </a:xfrm>
          <a:prstGeom prst="ellipse">
            <a:avLst/>
          </a:prstGeom>
          <a:solidFill>
            <a:srgbClr val="3FA8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39593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 small, anonymized sample set to tune signal weights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4626864"/>
            <a:ext cx="109728" cy="109728"/>
          </a:xfrm>
          <a:prstGeom prst="ellipse">
            <a:avLst/>
          </a:prstGeom>
          <a:solidFill>
            <a:srgbClr val="3FA88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44622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on next steps: contract, pilot, or ongoing collaboration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5486400"/>
            <a:ext cx="4572000" cy="0"/>
          </a:xfrm>
          <a:prstGeom prst="line">
            <a:avLst/>
          </a:prstGeom>
          <a:noFill/>
          <a:ln w="12700">
            <a:solidFill>
              <a:srgbClr val="2A32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Oganne Baitsile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BetGuard AI  ·  Francistown, Botswana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2026-09-15T06:31:40Z</dcterms:created>
  <dcterms:modified xsi:type="dcterms:W3CDTF">2026-09-15T06:31:40Z</dcterms:modified>
</cp:coreProperties>
</file>